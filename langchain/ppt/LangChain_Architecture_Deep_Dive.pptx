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LangChain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From application input to model reasoning, tools, retrieval, state, and final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606040"/>
            <a:ext cx="1508760" cy="91440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74519" y="3063240"/>
            <a:ext cx="457201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2057400"/>
            <a:ext cx="1920240" cy="19202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Application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Prompt • State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Business Logic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51960" y="301752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09160" y="1874519"/>
            <a:ext cx="2057400" cy="22860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LangChain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Runnables / LCEL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Chains / Agents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301752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23760" y="2057400"/>
            <a:ext cx="1874519" cy="1920240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Model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Chat LLM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Embeddings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3063240"/>
            <a:ext cx="50292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0" y="2606040"/>
            <a:ext cx="2011680" cy="91440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4526280"/>
            <a:ext cx="1828800" cy="91440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Tools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APIs / DB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663440" y="4114800"/>
            <a:ext cx="960120" cy="86868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4526280"/>
            <a:ext cx="1828800" cy="91440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RAG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Retriever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537960" y="4114800"/>
            <a:ext cx="0" cy="41148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0" y="4526280"/>
            <a:ext cx="1828800" cy="914400"/>
          </a:xfrm>
          <a:prstGeom prst="roundRect">
            <a:avLst/>
          </a:prstGeom>
          <a:solidFill>
            <a:srgbClr val="EAD1DC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Memory /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State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8458200" y="3977639"/>
            <a:ext cx="640080" cy="548641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LangChain is an orchestration layer around models, data, state, tools, and application logic.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Runnables: The Core Execution 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Composable units that can be invoked, streamed, batched, and connected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31720"/>
            <a:ext cx="1554480" cy="100584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Input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283464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80" y="2011680"/>
            <a:ext cx="1828800" cy="16459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Runnable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invoke()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batch()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stream()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0" y="283464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2011680"/>
            <a:ext cx="1828800" cy="16459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Prompt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Runnable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0" y="283464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40880" y="2011680"/>
            <a:ext cx="1828800" cy="1645920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Chat Model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Runnable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283464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26880" y="2331720"/>
            <a:ext cx="2240280" cy="100584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572000"/>
            <a:ext cx="7680960" cy="91440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Composition: Prompt | Model | Parser |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A Runnable gives LangChain components a common execution model and makes composition predictable.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LCEL — LangChain Expression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Declaratively compose Runnables into readable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1874519" cy="14173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PromptTemplate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{name} + {question}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3035808"/>
            <a:ext cx="50292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2331720"/>
            <a:ext cx="1874519" cy="1417320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Chat Model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LLM call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3440" y="3035808"/>
            <a:ext cx="50292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66360" y="2331720"/>
            <a:ext cx="1874519" cy="141732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Output Parser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String / 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0" y="3035808"/>
            <a:ext cx="50292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43800" y="2331720"/>
            <a:ext cx="2011680" cy="141732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Application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invoke /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572000"/>
            <a:ext cx="8138160" cy="9144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Pipeline = Prompt → Model → Parser →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LCEL makes execution graphs explicit and supports composition patterns such as sequential and parallel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Chains: Predictable Multi-Step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Connect deterministic steps when the workflow is known in advance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423160"/>
            <a:ext cx="1508760" cy="105156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Input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2944368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2057400"/>
            <a:ext cx="1828800" cy="178308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Step 1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Classify /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Extract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2944368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057400"/>
            <a:ext cx="1828800" cy="1783080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Step 2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Prompt +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2944368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12280" y="2057400"/>
            <a:ext cx="1828800" cy="178308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Step 3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Transform /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Parse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2944368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0" y="2423160"/>
            <a:ext cx="2240280" cy="105156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617720"/>
            <a:ext cx="6858000" cy="9144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Known workflow: Step 1 → Step 2 → Step 3 →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Modern LangChain applications commonly express chains through Runnables and LCEL.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Agents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An agent lets the model decide whether and how to use available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606040"/>
            <a:ext cx="1417320" cy="96012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309067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48840" y="2103120"/>
            <a:ext cx="2011680" cy="19659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Agent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Instructions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Model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Tool Definitions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3090672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2148840"/>
            <a:ext cx="2011680" cy="1874519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LLM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Answer or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Tool Call?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629400" y="1828800"/>
            <a:ext cx="685800" cy="91440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143000"/>
            <a:ext cx="2057400" cy="109728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Tool 1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Search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29400" y="3520440"/>
            <a:ext cx="685800" cy="27432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0" y="3246120"/>
            <a:ext cx="2057400" cy="109728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Tool 2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DB /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72600" y="1691640"/>
            <a:ext cx="594360" cy="105156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372600" y="3246120"/>
            <a:ext cx="594360" cy="54864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2743200"/>
            <a:ext cx="1783080" cy="109728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Observation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4572000"/>
            <a:ext cx="2834640" cy="9144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Repeat until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final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Agentic execution is iterative: decide → act → observe → decide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Memory &amp;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Conversation context and application state can be carried across model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68880"/>
            <a:ext cx="1645920" cy="100584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User</a:t>
            </a:r>
          </a:p>
          <a:p>
            <a:pPr algn="ctr"/>
            <a:r>
              <a:rPr sz="1600" b="0">
                <a:solidFill>
                  <a:srgbClr val="373737"/>
                </a:solidFill>
              </a:rPr>
              <a:t>Message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2971800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60320" y="2057400"/>
            <a:ext cx="1965960" cy="1828800"/>
          </a:xfrm>
          <a:prstGeom prst="roundRect">
            <a:avLst/>
          </a:prstGeom>
          <a:solidFill>
            <a:srgbClr val="EAD1DC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Application State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Messages /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Session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26280" y="297180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83480" y="2057400"/>
            <a:ext cx="2011680" cy="18288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Prompt Assembly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History +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New 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95160" y="297180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52360" y="2057400"/>
            <a:ext cx="2011680" cy="1828800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Model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Uses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64040" y="2971800"/>
            <a:ext cx="45720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921240" y="2468880"/>
            <a:ext cx="1737360" cy="100584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4617720"/>
            <a:ext cx="6766560" cy="91440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Long-term knowledge is usually better handled with retrieval than unlimited chat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In modern architectures, state can be explicit and persisted; LangGraph adds durable, stateful execution for complex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RAG —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Retrieve relevant external knowledge and place it into the model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423160"/>
            <a:ext cx="1600200" cy="100584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User Query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2926080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2057400"/>
            <a:ext cx="1828800" cy="18288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Query Embedding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Text → Vector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2926080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057400"/>
            <a:ext cx="2011680" cy="182880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Retriever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Similarity /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Metadata Filter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0" y="2926080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95160" y="2057400"/>
            <a:ext cx="1965960" cy="182880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Relevant Documents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Top-K Chunks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0" y="2926080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72600" y="2423160"/>
            <a:ext cx="2286000" cy="1005840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Prompt +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617720"/>
            <a:ext cx="5120640" cy="9144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Query + Retrieved Context → Grounded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RAG keeps external knowledge outside the model and retrieves relevant context at query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Embeddings &amp; Vector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Represent content as vectors so semantically similar information can be found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240280"/>
            <a:ext cx="1645920" cy="114300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Documents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81635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80" y="1874519"/>
            <a:ext cx="1828800" cy="1874519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Chunking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Split into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passages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0" y="281635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09160" y="1874519"/>
            <a:ext cx="1828800" cy="1874519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Embedding Model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Text → Vector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37960" y="281635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0" y="1874519"/>
            <a:ext cx="2011680" cy="1874519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Vector Store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Vectors +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Metadata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0" y="281635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72600" y="2240280"/>
            <a:ext cx="2331720" cy="114300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Similarity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617720"/>
            <a:ext cx="7955279" cy="9144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Query → Embedding → Search → Chunks →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Vector stores implement the retrieval layer; embeddings provide the numerical representation used for semantic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LangGraph: Stateful Agent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Explicit graphs with nodes, edges, state, branching, loops, and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514600"/>
            <a:ext cx="1554480" cy="96012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START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299923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2011680"/>
            <a:ext cx="1828800" cy="192024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Node: Agent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Read State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Call Model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299923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011680"/>
            <a:ext cx="1828800" cy="192024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Node: Tools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Execute API /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Database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2999232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12280" y="2011680"/>
            <a:ext cx="1828800" cy="1920240"/>
          </a:xfrm>
          <a:prstGeom prst="roundRect">
            <a:avLst/>
          </a:prstGeom>
          <a:solidFill>
            <a:srgbClr val="EAD1DC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Node: Observe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Update 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2999232"/>
            <a:ext cx="50292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2514600"/>
            <a:ext cx="1645920" cy="96012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373737"/>
                </a:solidFill>
              </a:rPr>
              <a:t>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4572000"/>
            <a:ext cx="2286000" cy="9144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Conditional Edge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Continue / Finish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257800"/>
            <a:ext cx="2194560" cy="731520"/>
          </a:xfrm>
          <a:prstGeom prst="roundRect">
            <a:avLst/>
          </a:prstGeom>
          <a:solidFill>
            <a:srgbClr val="EAD1DC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Shared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LangGraph is useful for durable state, cycles, branching, human-in-the-loop, and long-running agent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5496"/>
                </a:solidFill>
              </a:rPr>
              <a:t>Putting It All Together — LangChain + 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73737"/>
                </a:solidFill>
              </a:rPr>
              <a:t>A practical agentic RAG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606040"/>
            <a:ext cx="1417320" cy="91440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3063240"/>
            <a:ext cx="36576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03120" y="1965960"/>
            <a:ext cx="1783080" cy="2194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LangGraph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State + Flow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Agent Nodes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3063240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80" y="1965960"/>
            <a:ext cx="1691640" cy="2194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LangChain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Runnables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LCEL / Chains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3063240"/>
            <a:ext cx="411480" cy="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965960"/>
            <a:ext cx="1645920" cy="2194560"/>
          </a:xfrm>
          <a:prstGeom prst="roundRect">
            <a:avLst/>
          </a:prstGeom>
          <a:solidFill>
            <a:srgbClr val="FCE4D6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373737"/>
                </a:solidFill>
              </a:rPr>
              <a:t>Model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Chat LLM</a:t>
            </a:r>
          </a:p>
          <a:p>
            <a:pPr algn="ctr"/>
            <a:r>
              <a:rPr sz="1500" b="0">
                <a:solidFill>
                  <a:srgbClr val="373737"/>
                </a:solidFill>
              </a:rPr>
              <a:t>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25880"/>
            <a:ext cx="1645920" cy="105156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RAG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Retriever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046720" y="1874519"/>
            <a:ext cx="320040" cy="822961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66760" y="2743200"/>
            <a:ext cx="1645920" cy="1051560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Tools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APIs / 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3154680"/>
            <a:ext cx="320040" cy="9144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66760" y="4160520"/>
            <a:ext cx="1645920" cy="1051560"/>
          </a:xfrm>
          <a:prstGeom prst="roundRect">
            <a:avLst/>
          </a:prstGeom>
          <a:solidFill>
            <a:srgbClr val="EAD1DC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State /</a:t>
            </a:r>
          </a:p>
          <a:p>
            <a:pPr algn="ctr"/>
            <a:r>
              <a:rPr sz="1400" b="0">
                <a:solidFill>
                  <a:srgbClr val="373737"/>
                </a:solidFill>
              </a:rPr>
              <a:t>Memory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20" y="3611880"/>
            <a:ext cx="320040" cy="1005840"/>
          </a:xfrm>
          <a:prstGeom prst="line">
            <a:avLst/>
          </a:prstGeom>
          <a:ln w="254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28800" y="5349240"/>
            <a:ext cx="8229600" cy="68580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373737"/>
                </a:solidFill>
              </a:rPr>
              <a:t>Request → State → Agent → Model → RAG / Tools → Observation → State →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73737"/>
                </a:solidFill>
              </a:rPr>
              <a:t>Mental model: LangChain provides composable building blocks; LangGraph provides explicit stateful control flow for sophisticated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